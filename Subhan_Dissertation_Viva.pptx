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 on BGL holdout</c:v>
                </c:pt>
              </c:strCache>
            </c:strRef>
          </c:tx>
          <c:spPr>
            <a:solidFill>
              <a:srgbClr val="6B7689">
                <a:alpha val="90000"/>
              </a:srgbClr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33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68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768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68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Isolation
Forest</c:v>
                  </c:pt>
                  <c:pt idx="1">
                    <c:v>Logistic
Regression</c:v>
                  </c:pt>
                  <c:pt idx="2">
                    <c:v>Random
Forest</c:v>
                  </c:pt>
                  <c:pt idx="3">
                    <c:v>LSTM
Autoenc.</c:v>
                  </c:pt>
                  <c:pt idx="4">
                    <c:v>LogGPT</c:v>
                  </c:pt>
                  <c:pt idx="5">
                    <c:v>LogBERT</c:v>
                  </c:pt>
                  <c:pt idx="6">
                    <c:v>PLELog</c:v>
                  </c:pt>
                  <c:pt idx="7">
                    <c:v>LogFormer</c:v>
                  </c:pt>
                  <c:pt idx="8">
                    <c:v>BERT-Log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0.612</c:v>
                </c:pt>
                <c:pt idx="1">
                  <c:v>0.887</c:v>
                </c:pt>
                <c:pt idx="2">
                  <c:v>0.912</c:v>
                </c:pt>
                <c:pt idx="3">
                  <c:v>0.934</c:v>
                </c:pt>
                <c:pt idx="4">
                  <c:v>0.951</c:v>
                </c:pt>
                <c:pt idx="5">
                  <c:v>0.957</c:v>
                </c:pt>
                <c:pt idx="6">
                  <c:v>0.962</c:v>
                </c:pt>
                <c:pt idx="7">
                  <c:v>0.968</c:v>
                </c:pt>
                <c:pt idx="8">
                  <c:v>0.974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1A233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233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5"/>
        </c:scaling>
        <c:delete val="0"/>
        <c:axPos val="l"/>
        <c:majorGridlines>
          <c:spPr>
            <a:ln w="6350" cap="flat">
              <a:solidFill>
                <a:srgbClr val="E2DE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457200"/>
            <a:ext cx="54864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43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1136476527 R02-M1-N0-C:J12-U11 RAS KERNEL INFO instruction cache parity error corrected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43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1136476528 R23-M1-N4-C:J05-U11 RAS KERNEL FATAL data TLB error interrupt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43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1136476530 R12-M0-N7-C:J09-U01 RAS APP   INFO  ciod: completed reading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43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1136476531 R45-M1-N2-C:J17-U01 RAS KERNEL ERROR machine check interrupt on core 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43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1136476533 R02-M0-N3-C:J04-U01 RAS APP   INFO  program loaded successfully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43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1136476535 R56-M1-N6-C:J07-U11 RAS KERNEL FATAL uncorrectable ECC at 0x7f4a...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43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1136476537 R03-M0-N0-C:J19-U01 RAS APP   INFO  job 78201 completed successfully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91440" cy="8229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463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ARTIFICIAL INTELLIGENCE DISSERTATION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B7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PRESENTATION  ·  2025/26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Detecting Anomalies in HPC Logs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Evaluating nine models on the Blue Gene/L corpus, with a Rails operator dashboard.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846320"/>
            <a:ext cx="4114800" cy="0"/>
          </a:xfrm>
          <a:prstGeom prst="line">
            <a:avLst/>
          </a:prstGeom>
          <a:noFill/>
          <a:ln w="15875">
            <a:solidFill>
              <a:srgbClr val="C241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93776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Subhan Jameel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  U2926092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 [Supervisor name]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271455" y="6217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MOTIVATION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problem still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HPC clusters emit billions of log lines a day. Operators do not.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Supercomputers like Blue Gene/L produce millions of structured and free-text log records from kernels, MPI jobs, file systems and hardware monitors. The vast majority are routine. A small fraction signal the kind of failure that ends a 72-hour simulation. The job of finding those few lines is still, in most centres, a person reading dashboards and grep output.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dissertation builds and evaluates an end-to-end detection pipeline for that workflow — from raw log to scored window to operator alert — and asks how far modern transformer models can push detection quality on a public, reproducible benchmark.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49440" y="2011680"/>
            <a:ext cx="47548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49440" y="2011680"/>
            <a:ext cx="73152" cy="1188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78040" y="21031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4.7M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9006840" y="21488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records in the BGL release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(LogHub, He et al.)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49440" y="3383280"/>
            <a:ext cx="47548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0" y="3383280"/>
            <a:ext cx="73152" cy="1188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34747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8%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006840" y="35204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anomalous lines — strongly imbalanced classes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0" y="4754880"/>
            <a:ext cx="47548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49440" y="4754880"/>
            <a:ext cx="73152" cy="1188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48463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100s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006840" y="48920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after Drain parsing — vocabulary is unstable across releases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DE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46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Subhan Jameel  ·  U2926092  ·  MSc AI Dissertation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19695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AIM &amp; OBJECTIVES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work sets out to 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question, four objectives, one deployable artefact.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574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transformer-based language models, trained on raw log text, outperform traditional machine learning baselines for anomaly detection on the BGL corpus, and be served behind a usable operator interface?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55778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4290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341071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reproducible BGL pipeline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3849624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 parsing, sliding-window features, chronological splits and a shared SMOTE-balanced training fold.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55080" y="3246120"/>
            <a:ext cx="55778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34290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0" y="341071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nine models head-to-head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0" y="3849624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traditional baselines, an LSTM autoencoder and five transformer/LLM approaches on identical features.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55778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49377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08760" y="491947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the model explain itself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5358384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attributions on tree and linear models, and a parallel inspection path on the API endpoint.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4754880"/>
            <a:ext cx="55778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0" y="49377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0" y="491947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something an operator can use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0" y="5358384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Rails 8 dashboard with paste/upload analysis, alerts lifecycle and a streaming live-monitor view.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DE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46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Subhan Jameel  ·  U2926092  ·  MSc AI Dissertation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619695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&amp; Objectives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DATASET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Blue Gene/L — a benchmark with teeth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RAS logs from a 131,072-core IBM machine at Lawrence Livermore National Laboratory.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6126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 Gene/L (BGL) corpus, released through LogHub and curated by He et al., contains the operational telemetry of an IBM supercomputer at LLNL. Each line carries a timestamp, a node identifier of the form Rxx-Mx-Nx-C:Jxx-Uxx, a component (kernel, MMCS, ciod, lustre, …), a severity level, and message text. Lines that begin with a non-dash code are labelled as alerts.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deliberately chose BGL over synthetic generators: it is publicly cited, peer-reviewed, imbalanced like real production traffic, and the failure modes — ECC errors, machine checks, torus link faults, kernel panics — are the ones HPC sites actually care about.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40880" y="2057400"/>
            <a:ext cx="46634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269480" y="2194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Corpus at a glance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269480" y="2606040"/>
            <a:ext cx="914400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69480" y="27889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732520" y="27889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LogHub  ·  He, Zhu, He, Lyu (2020)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269480" y="32095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732520" y="320954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4,747,963 messages, 348,460 alerts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269480" y="3630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32520" y="363016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 days, single-system trace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69480" y="40507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732520" y="405079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 (kernel, MMCS, ciod, lustre, rts, …)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69480" y="44714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732520" y="447141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/ WARNING / ERROR / SEVERE / FATAL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69480" y="48920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size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32520" y="489204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events,  stride 10 (chronological)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69480" y="53126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732520" y="531266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65 / Val 15 / Test 20  (time-ordered)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DE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446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Subhan Jameel  ·  U2926092  ·  MSc AI Dissertation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19695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· BGL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services, one Docker network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ML tier behind a Flask API; a Rails 8 tier in front of the operator.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1206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40280"/>
            <a:ext cx="5120640" cy="7315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048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ml_pipeline   ·   Python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 ·  PyTorch  ·  Transformers  ·  Flask + Gunicorn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 parser  →  feature engineer  →  9 model trainers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on training fold only  ·  chronological holdout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explainer  ·  saved_models/*.pkl  ·  eval_holdout.npz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 /predict  /predict/batch  /explain  /simulate  on :5001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2240280"/>
            <a:ext cx="51206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240280"/>
            <a:ext cx="512064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4048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log_anomaly_rails   ·   Ruby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29400" y="28346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Rails 8  ·  PostgreSQL  ·  Bootstrap  ·  Server-Sent Events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75120" y="320040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·  Analysis (paste / upload)  ·  Alerts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benchmarking page  ·  Live monitor stream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MlApiService — single point of contact for HTTP + JSON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LogEntry, AnomalyAlert, ModelMetric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760720" y="3108960"/>
            <a:ext cx="640080" cy="0"/>
          </a:xfrm>
          <a:prstGeom prst="line">
            <a:avLst/>
          </a:prstGeom>
          <a:noFill/>
          <a:ln w="2032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760720" y="3611880"/>
            <a:ext cx="640080" cy="0"/>
          </a:xfrm>
          <a:prstGeom prst="line">
            <a:avLst/>
          </a:prstGeom>
          <a:noFill/>
          <a:ln w="20320">
            <a:solidFill>
              <a:srgbClr val="C2410C"/>
            </a:solidFill>
            <a:prstDash val="solid"/>
            <a:headEnd type="triangle"/>
          </a:ln>
        </p:spPr>
      </p:sp>
      <p:sp>
        <p:nvSpPr>
          <p:cNvPr id="17" name="Text 15"/>
          <p:cNvSpPr/>
          <p:nvPr/>
        </p:nvSpPr>
        <p:spPr>
          <a:xfrm>
            <a:off x="5532120" y="3246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4754880"/>
            <a:ext cx="10881360" cy="11887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864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52120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E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up both services on one network. Rails waits for the ML container's health check before boot; ML_API_URL is injected so the same image works in dev, staging and the marker's laptop.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DE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446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Subhan Jameel  ·  U2926092  ·  MSc AI Dissertation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619695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METHODOLOGY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raw log line to scored window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 — each one chosen to remove a failure mode of the previous.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734769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1705" y="2377440"/>
            <a:ext cx="548640" cy="54864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1705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15518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3520440"/>
            <a:ext cx="140558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BGLDataLoader parses raw lines into typed records (timestamp, node, component, severity, content).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20569" y="2194560"/>
            <a:ext cx="1734769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13634" y="2377440"/>
            <a:ext cx="548640" cy="54864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3634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12009" y="3108960"/>
            <a:ext cx="15518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85161" y="3520440"/>
            <a:ext cx="140558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 (He et al., 2016) abstracts variable tokens — stabilises vocabulary across releases.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2498" y="2194560"/>
            <a:ext cx="1734769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85563" y="2377440"/>
            <a:ext cx="548640" cy="54864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85563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383938" y="3108960"/>
            <a:ext cx="15518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Window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57090" y="3520440"/>
            <a:ext cx="140558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of 20 events with stride 10 — preserves local sequence; chronological split.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64428" y="2194560"/>
            <a:ext cx="1734769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57492" y="2377440"/>
            <a:ext cx="548640" cy="54864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57492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55868" y="3108960"/>
            <a:ext cx="15518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29020" y="3520440"/>
            <a:ext cx="140558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over templates, severity stats, component one-hot, temporal rate, bigram counts.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36357" y="2194560"/>
            <a:ext cx="1734769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29421" y="2377440"/>
            <a:ext cx="548640" cy="54864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29421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127797" y="3108960"/>
            <a:ext cx="15518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00949" y="3520440"/>
            <a:ext cx="140558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on training fold only — never on holdout, never on test (avoids leakage).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908286" y="2194560"/>
            <a:ext cx="1734769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501351" y="2377440"/>
            <a:ext cx="548640" cy="54864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01351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999726" y="3108960"/>
            <a:ext cx="15518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· Eval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072878" y="3520440"/>
            <a:ext cx="140558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inputs to nine models. Precision, recall, F1, AUC, FPR, latency on the same matrix.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splitting matters here. Random splits leak future windows into the training set (stride 10 means adjacent windows share 50% of their events) and inflate F1 by ~0.05–0.10.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DED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446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Subhan Jameel  ·  U2926092  ·  MSc AI Dissertation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619695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MODELS UNDER TEST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Nine models, three eras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1958-style linear classifier to a 2024 adapter-tuned transformer.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6576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3657600" cy="457200"/>
          </a:xfrm>
          <a:prstGeom prst="rect">
            <a:avLst/>
          </a:prstGeom>
          <a:solidFill>
            <a:srgbClr val="6B7689"/>
          </a:solidFill>
          <a:ln w="12700">
            <a:solidFill>
              <a:srgbClr val="6B76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40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0449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 · LIBLINEAR · L2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33558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611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 · class_weight balanced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39227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Isolation Forest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41788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· contamination 0.08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34840" y="2194560"/>
            <a:ext cx="36576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34840" y="2194560"/>
            <a:ext cx="36576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240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SEQUENCE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7889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LSTM Autoencoder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30449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encoder · reconstruction error threshold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321040" y="2194560"/>
            <a:ext cx="32918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21040" y="2194560"/>
            <a:ext cx="3291840" cy="4572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/ LLM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49640" y="27889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BERT-Log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49640" y="30449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fine-tuned, parsing-free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549640" y="33558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LogBERT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49640" y="36118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BERT, masked event prediction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549640" y="392277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LogFormer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49640" y="41788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tuning · log-attention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549640" y="44897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PLELog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549640" y="47457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+ probabilistic label estimation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549640" y="50566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LogGPT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549640" y="53126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with REINFORCE fine-tune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nine models share the same feature pipeline, the same SMOTE-balanced training fold, and are evaluated on the same held-out matrix saved to eval_holdout.npz — so the comparison is fair.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DE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6446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Subhan Jameel  ·  U2926092  ·  MSc AI Dissertation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619695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under test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RESULTS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BERT-Log lands the best F1 — and the gap is not small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metrics on the chronological BGL test fold (20% of windows, no overlap).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03120"/>
          <a:ext cx="6858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2103120"/>
            <a:ext cx="4023360" cy="36576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09560" y="2240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909560" y="25146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BERT-Log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909560" y="31089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DistilBERT-base, fine-tuned on raw log windows. No Drain parsing on the input path — WordPiece does the work.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909560" y="3931920"/>
            <a:ext cx="3566160" cy="0"/>
          </a:xfrm>
          <a:prstGeom prst="line">
            <a:avLst/>
          </a:prstGeom>
          <a:noFill/>
          <a:ln w="12700">
            <a:solidFill>
              <a:srgbClr val="C2410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09560" y="4069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555480" y="4069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909560" y="439826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555480" y="43982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0.976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909560" y="47274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555480" y="47274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909560" y="50566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555480" y="50566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0.991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09560" y="538581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555480" y="53858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 ms / window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(orange) beat Random Forest by +6 F1 points and Logistic Regression by +9. The Isolation Forest baseline is included for context — it is never close in supervised regimes.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DED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6446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Subhan Jameel  ·  U2926092  ·  MSc AI Dissertation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619695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BEYOND THE NUMBER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F1 score is not a deployment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for the analyst, a workflow for the operator.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864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03120"/>
            <a:ext cx="91440" cy="40233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Explainability — SHAP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Lundberg &amp; Lee, 2017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TreeExplainer for Random Forest, LinearExplainer for Logistic Regression, KernelExplainer fallback for everything else. Per-prediction attributions are returned through /api/v1/explain so an analyst can see which features pushed a window towards the alert class — not just that it was alerted.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6177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severity_max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77440" y="4654296"/>
            <a:ext cx="3028493" cy="164592"/>
          </a:xfrm>
          <a:prstGeom prst="rect">
            <a:avLst/>
          </a:prstGeom>
          <a:solidFill>
            <a:srgbClr val="C2410C">
              <a:alpha val="85000"/>
            </a:srgbClr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51653" y="4617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4864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tfidf:fatal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77440" y="4901184"/>
            <a:ext cx="2567635" cy="164592"/>
          </a:xfrm>
          <a:prstGeom prst="rect">
            <a:avLst/>
          </a:prstGeom>
          <a:solidFill>
            <a:srgbClr val="C2410C">
              <a:alpha val="85000"/>
            </a:srgbClr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90795" y="48646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" y="511149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tfidf:ecc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77440" y="5148072"/>
            <a:ext cx="2172614" cy="164592"/>
          </a:xfrm>
          <a:prstGeom prst="rect">
            <a:avLst/>
          </a:prstGeom>
          <a:solidFill>
            <a:srgbClr val="C2410C">
              <a:alpha val="85000"/>
            </a:srgbClr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5774" y="511149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68680" y="53583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comp:kernel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77440" y="5394960"/>
            <a:ext cx="1909267" cy="164592"/>
          </a:xfrm>
          <a:prstGeom prst="rect">
            <a:avLst/>
          </a:prstGeom>
          <a:solidFill>
            <a:srgbClr val="C2410C">
              <a:alpha val="85000"/>
            </a:srgbClr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32427" y="535838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68680" y="56052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rate_per_sec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377440" y="5641848"/>
            <a:ext cx="1349654" cy="164592"/>
          </a:xfrm>
          <a:prstGeom prst="rect">
            <a:avLst/>
          </a:prstGeom>
          <a:solidFill>
            <a:srgbClr val="C2410C">
              <a:alpha val="85000"/>
            </a:srgbClr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72814" y="56052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58521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tfidf:panic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377440" y="5888736"/>
            <a:ext cx="1119226" cy="164592"/>
          </a:xfrm>
          <a:prstGeom prst="rect">
            <a:avLst/>
          </a:prstGeom>
          <a:solidFill>
            <a:srgbClr val="C2410C">
              <a:alpha val="85000"/>
            </a:srgbClr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2386" y="5852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63640" y="2103120"/>
            <a:ext cx="54406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63640" y="2103120"/>
            <a:ext cx="91440" cy="4023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2240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Rails operator dashboard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583680" y="2606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log_anomaly_rails  ·  Bootstrap 5  ·  PostgreSQL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83680" y="3108960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092440" y="30175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activity chart, severity breakdown, recent alerts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83680" y="3493008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3401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092440" y="34015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log text or upload a file, get scores plus SHAP features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83680" y="3877056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37856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092440" y="378561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reviewing / resolved lifecycle with operator notes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83680" y="4261104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4169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092440" y="41696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 stream of synthetic BGL traffic for demo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83680" y="4645152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66560" y="45537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092440" y="45537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metrics for every model in saved_models/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583680" y="5166360"/>
            <a:ext cx="4937760" cy="0"/>
          </a:xfrm>
          <a:prstGeom prst="line">
            <a:avLst/>
          </a:prstGeom>
          <a:noFill/>
          <a:ln w="7620">
            <a:solidFill>
              <a:srgbClr val="E2DED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528523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ML calls are isolated behind one MlApiService class — the model can be retrained or swapped without touching a single controller.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DED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6446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Subhan Jameel  ·  U2926092  ·  MSc AI Dissertation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619695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number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CLOSING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dissertation contributes,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what I would do next.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303520" cy="0"/>
          </a:xfrm>
          <a:prstGeom prst="line">
            <a:avLst/>
          </a:prstGeom>
          <a:noFill/>
          <a:ln w="12700">
            <a:solidFill>
              <a:srgbClr val="C241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108960"/>
            <a:ext cx="5303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BGL pipeline that trains and evaluates nine models on identical features.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comparison: BERT-Log finishes at F1 = 0.974 against a Random Forest at 0.912.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operator-facing Rails 8 dashboard wired to a Flask inference API over Docker compose.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SHAP layer that makes alerts inspectable rather than opaque.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2606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2926080"/>
            <a:ext cx="5303520" cy="0"/>
          </a:xfrm>
          <a:prstGeom prst="line">
            <a:avLst/>
          </a:prstGeom>
          <a:noFill/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3108960"/>
            <a:ext cx="5303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Cross-system generalisation: train on BGL, test on HDFS / Thunderbird without retraining.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learning: incremental fine-tuning on the operator's own resolved-alert feedback.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inference: replace the simulate-and-poll demo with a real Kafka topic.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budget: distil BERT-Log to a 2-layer student to drive latency under 3 ms / window.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6035040"/>
            <a:ext cx="11094415" cy="0"/>
          </a:xfrm>
          <a:prstGeom prst="line">
            <a:avLst/>
          </a:prstGeom>
          <a:noFill/>
          <a:ln w="9525">
            <a:solidFill>
              <a:srgbClr val="1B31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   Questions welcome.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19695" y="61996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Subhan Jameel  ·  U2926092  ·  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 Anomaly Detection on the BGL Corpus</dc:title>
  <dc:subject>PptxGenJS Presentation</dc:subject>
  <dc:creator>Subhan Jameel</dc:creator>
  <cp:lastModifiedBy>Subhan Jameel</cp:lastModifiedBy>
  <cp:revision>1</cp:revision>
  <dcterms:created xsi:type="dcterms:W3CDTF">2026-05-02T12:31:20Z</dcterms:created>
  <dcterms:modified xsi:type="dcterms:W3CDTF">2026-05-02T12:31:20Z</dcterms:modified>
</cp:coreProperties>
</file>